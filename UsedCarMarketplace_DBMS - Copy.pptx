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9813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43360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21810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78554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3833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029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19537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7314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35106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12226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58346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1260727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06135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694158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71668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51024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0506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5034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979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822960"/>
            <a:ext cx="2103120" cy="2103120"/>
          </a:xfrm>
          <a:prstGeom prst="ellipse">
            <a:avLst/>
          </a:prstGeom>
          <a:solidFill>
            <a:srgbClr val="1565C0">
              <a:alpha val="30000"/>
            </a:srgbClr>
          </a:solidFill>
          <a:ln w="25400">
            <a:solidFill>
              <a:srgbClr val="1E88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005840"/>
            <a:ext cx="1554480" cy="1554480"/>
          </a:xfrm>
          <a:prstGeom prst="ellipse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0" y="12344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🚗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 Price Prediction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Marketplace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Management System Project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090672"/>
            <a:ext cx="3200400" cy="36576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3246120"/>
            <a:ext cx="5029200" cy="1417320"/>
          </a:xfrm>
          <a:prstGeom prst="rect">
            <a:avLst/>
          </a:prstGeom>
          <a:solidFill>
            <a:srgbClr val="0F2D5E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429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Nitin Sharma  |  RA2411030030041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39136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Kshitiz Gupta  |  RA2411030030075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F2D5E"/>
          </a:solidFill>
          <a:ln w="12700">
            <a:solidFill>
              <a:srgbClr val="0F2D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95604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Project  •  2024-25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D5E"/>
          </a:solidFill>
          <a:ln w="12700">
            <a:solidFill>
              <a:srgbClr val="0F2D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online platform enabling users to buy and sell used cars with smart price prediction powered by historical data.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783080"/>
            <a:ext cx="260604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8E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8745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5420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Search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9718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brand, price, fuel type, year &amp; location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783080"/>
            <a:ext cx="260604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8E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8745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91840" y="25420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Prediction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29718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estimated price from historical listings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783080"/>
            <a:ext cx="260604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8E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8745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26480" y="25420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72200" y="29718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buyer-seller communication &amp; transactions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1783080" cy="868680"/>
          </a:xfrm>
          <a:prstGeom prst="rect">
            <a:avLst/>
          </a:prstGeom>
          <a:solidFill>
            <a:srgbClr val="0F2D5E"/>
          </a:solidFill>
          <a:ln w="12700">
            <a:solidFill>
              <a:srgbClr val="0F2D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00507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02920" y="44074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0" y="3977640"/>
            <a:ext cx="1783080" cy="868680"/>
          </a:xfrm>
          <a:prstGeom prst="rect">
            <a:avLst/>
          </a:prstGeom>
          <a:solidFill>
            <a:srgbClr val="0F2D5E"/>
          </a:solidFill>
          <a:ln w="12700">
            <a:solidFill>
              <a:srgbClr val="0F2D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6040" y="400507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606040" y="44074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3977640"/>
            <a:ext cx="1783080" cy="868680"/>
          </a:xfrm>
          <a:prstGeom prst="rect">
            <a:avLst/>
          </a:prstGeom>
          <a:solidFill>
            <a:srgbClr val="0F2D5E"/>
          </a:solidFill>
          <a:ln w="12700">
            <a:solidFill>
              <a:srgbClr val="0F2D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400507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709160" y="44074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Concepts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66560" y="3977640"/>
            <a:ext cx="1783080" cy="868680"/>
          </a:xfrm>
          <a:prstGeom prst="rect">
            <a:avLst/>
          </a:prstGeom>
          <a:solidFill>
            <a:srgbClr val="0F2D5E"/>
          </a:solidFill>
          <a:ln w="12700">
            <a:solidFill>
              <a:srgbClr val="0F2D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400507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812280" y="44074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2788920" cy="1691640"/>
          </a:xfrm>
          <a:prstGeom prst="rect">
            <a:avLst/>
          </a:prstGeom>
          <a:solidFill>
            <a:srgbClr val="0F2D5E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78992"/>
            <a:ext cx="64008" cy="16916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17043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User Management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5819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Registration &amp; Login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8912" y="192938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Buyer &amp; Seller profiles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8912" y="227685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Profile management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27832" y="1078992"/>
            <a:ext cx="2788920" cy="1691640"/>
          </a:xfrm>
          <a:prstGeom prst="rect">
            <a:avLst/>
          </a:prstGeom>
          <a:solidFill>
            <a:srgbClr val="0F2D5E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27832" y="1078992"/>
            <a:ext cx="64008" cy="16916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92424" y="117043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🚘  Car Listings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92424" y="15819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List with specifications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92424" y="192938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Upload condition reports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92424" y="227685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 active listings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81344" y="1078992"/>
            <a:ext cx="2788920" cy="1691640"/>
          </a:xfrm>
          <a:prstGeom prst="rect">
            <a:avLst/>
          </a:prstGeom>
          <a:solidFill>
            <a:srgbClr val="0F2D5E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81344" y="1078992"/>
            <a:ext cx="64008" cy="16916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5936" y="117043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Price Prediction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45936" y="15819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Estimated price suggestion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45936" y="192938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Based on historical data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45936" y="227685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Brand / Year / Mileage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953512"/>
            <a:ext cx="2788920" cy="1691640"/>
          </a:xfrm>
          <a:prstGeom prst="rect">
            <a:avLst/>
          </a:prstGeom>
          <a:solidFill>
            <a:srgbClr val="0F2D5E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953512"/>
            <a:ext cx="64008" cy="16916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04495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Search &amp; Filter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38912" y="34564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 by brand / price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38912" y="380390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Fuel type &amp; location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38912" y="415137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Year-based filtering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27832" y="2953512"/>
            <a:ext cx="2788920" cy="1691640"/>
          </a:xfrm>
          <a:prstGeom prst="rect">
            <a:avLst/>
          </a:prstGeom>
          <a:solidFill>
            <a:srgbClr val="0F2D5E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27832" y="2953512"/>
            <a:ext cx="64008" cy="16916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92424" y="304495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Messaging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92424" y="34564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Buyer-seller messaging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392424" y="380390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Conversation history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392424" y="415137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Listing-linked threads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81344" y="2953512"/>
            <a:ext cx="2788920" cy="1691640"/>
          </a:xfrm>
          <a:prstGeom prst="rect">
            <a:avLst/>
          </a:prstGeom>
          <a:solidFill>
            <a:srgbClr val="0F2D5E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81344" y="2953512"/>
            <a:ext cx="64008" cy="16916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45936" y="304495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Reviews &amp; Ratings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45936" y="34564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Rate sellers post-sale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345936" y="380390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trust score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345936" y="415137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Comment system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D5E"/>
          </a:solidFill>
          <a:ln w="12700">
            <a:solidFill>
              <a:srgbClr val="0F2D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— 7 Tables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2057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205740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060704"/>
            <a:ext cx="191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44475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(PK)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79222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phone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213969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password, location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24871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(buyer/seller)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95728" y="1005840"/>
            <a:ext cx="2057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95728" y="1005840"/>
            <a:ext cx="205740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060704"/>
            <a:ext cx="191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87168" y="144475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car_id (PK)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87168" y="179222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87168" y="213969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model, year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87168" y="24871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fuel_type, mileage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08576" y="1005840"/>
            <a:ext cx="2057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08576" y="1005840"/>
            <a:ext cx="205740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1728" y="1060704"/>
            <a:ext cx="191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CarSpecifications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0016" y="144475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spec_id (PK)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00016" y="179222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car_id (FK)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00016" y="213969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engine, transmission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00016" y="24871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color, seats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21424" y="1005840"/>
            <a:ext cx="2057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21424" y="1005840"/>
            <a:ext cx="205740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94576" y="1060704"/>
            <a:ext cx="191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12864" y="144475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listing_id (PK)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12864" y="179222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car_id (FK)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12864" y="213969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predicted_price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12864" y="248716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condition, status, date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82880" y="3108960"/>
            <a:ext cx="2057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82880" y="3108960"/>
            <a:ext cx="205740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3163824"/>
            <a:ext cx="191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4320" y="35478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review_id (PK)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" y="389534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buyer_id, seller_id (FK)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4320" y="424281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(INT)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4320" y="45902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(TEXT)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395728" y="3108960"/>
            <a:ext cx="2057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395728" y="3108960"/>
            <a:ext cx="205740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68880" y="3163824"/>
            <a:ext cx="191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487168" y="35478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message_id (PK)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487168" y="389534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sender_id, receiver_id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487168" y="424281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listing_id, message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487168" y="45902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08576" y="3108960"/>
            <a:ext cx="2057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8E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08576" y="3108960"/>
            <a:ext cx="205740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81728" y="3163824"/>
            <a:ext cx="1911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700016" y="35478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transaction_id (PK)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00016" y="389534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listing_id (FK)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700016" y="424281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buyer_id, seller_id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00016" y="45902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date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Diagram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1280160"/>
            <a:ext cx="1554480" cy="594360"/>
          </a:xfrm>
          <a:prstGeom prst="rect">
            <a:avLst/>
          </a:prstGeom>
          <a:solidFill>
            <a:srgbClr val="0D47A1"/>
          </a:solidFill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182880" y="1259409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61136" y="1300558"/>
            <a:ext cx="1554480" cy="594360"/>
          </a:xfrm>
          <a:prstGeom prst="rect">
            <a:avLst/>
          </a:prstGeom>
          <a:solidFill>
            <a:srgbClr val="1565C0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69224" y="1287194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39392" y="1341354"/>
            <a:ext cx="1554480" cy="594360"/>
          </a:xfrm>
          <a:prstGeom prst="rect">
            <a:avLst/>
          </a:prstGeom>
          <a:solidFill>
            <a:srgbClr val="1565C0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1316736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3200400"/>
            <a:ext cx="1554480" cy="594360"/>
          </a:xfrm>
          <a:prstGeom prst="rect">
            <a:avLst/>
          </a:prstGeom>
          <a:solidFill>
            <a:srgbClr val="283593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32004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SPECS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60919" y="2240280"/>
            <a:ext cx="1691640" cy="594360"/>
          </a:xfrm>
          <a:prstGeom prst="rect">
            <a:avLst/>
          </a:prstGeom>
          <a:solidFill>
            <a:srgbClr val="0D47A1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2227619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70768" y="1316736"/>
            <a:ext cx="1691640" cy="594360"/>
          </a:xfrm>
          <a:prstGeom prst="rect">
            <a:avLst/>
          </a:prstGeom>
          <a:solidFill>
            <a:srgbClr val="0D47A1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0" y="1287194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3200400"/>
            <a:ext cx="1554480" cy="594360"/>
          </a:xfrm>
          <a:prstGeom prst="rect">
            <a:avLst/>
          </a:prstGeom>
          <a:solidFill>
            <a:srgbClr val="283593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32004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37360" y="129844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Many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97680" y="129844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listing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807208" y="23317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specs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369852" y="2143213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85855" y="1224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Many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74320" y="22860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: M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783080" y="1490472"/>
            <a:ext cx="0" cy="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83080" y="1674758"/>
            <a:ext cx="96012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15616" y="1664208"/>
            <a:ext cx="100584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21608" y="1933956"/>
            <a:ext cx="54864" cy="124147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16324" y="1594572"/>
            <a:ext cx="444595" cy="92847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49802" y="1933956"/>
            <a:ext cx="54864" cy="654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" y="1912327"/>
            <a:ext cx="54864" cy="128262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8600" y="4343400"/>
            <a:ext cx="8686800" cy="640080"/>
          </a:xfrm>
          <a:prstGeom prst="rect">
            <a:avLst/>
          </a:prstGeom>
          <a:solidFill>
            <a:srgbClr val="1A237E">
              <a:alpha val="70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4407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Users → Cars: 1-to-Many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00400" y="4407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Cars → Listings: 1-to-1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80760" y="4407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Cars → CarSpecs: 1-to-1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20040" y="4663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Listings → Transactions: 1-to-1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200400" y="4663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Users → Messages: Many-to-Many</a:t>
            </a:r>
            <a:endParaRPr lang="en-US" sz="900" dirty="0"/>
          </a:p>
        </p:txBody>
      </p:sp>
      <p:sp>
        <p:nvSpPr>
          <p:cNvPr id="45" name="Shape 33">
            <a:extLst>
              <a:ext uri="{FF2B5EF4-FFF2-40B4-BE49-F238E27FC236}">
                <a16:creationId xmlns:a16="http://schemas.microsoft.com/office/drawing/2014/main" id="{3DFDEE91-CF62-0066-FA42-95AC334038A6}"/>
              </a:ext>
            </a:extLst>
          </p:cNvPr>
          <p:cNvSpPr/>
          <p:nvPr/>
        </p:nvSpPr>
        <p:spPr>
          <a:xfrm rot="5400000">
            <a:off x="6966497" y="2216896"/>
            <a:ext cx="54865" cy="68825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SQL Queries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828800"/>
          </a:xfrm>
          <a:prstGeom prst="rect">
            <a:avLst/>
          </a:prstGeom>
          <a:solidFill>
            <a:srgbClr val="161B22"/>
          </a:solidFill>
          <a:ln w="1905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4206240" cy="384048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54864" cy="18288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692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Insert New User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3931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Users (name, email, phone, password, location, role)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('Rahul', 'rahul@gmail.com', '9876543210', 'pass123', 'Delhi', 'seller');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206240" cy="1828800"/>
          </a:xfrm>
          <a:prstGeom prst="rect">
            <a:avLst/>
          </a:prstGeom>
          <a:solidFill>
            <a:srgbClr val="161B22"/>
          </a:solidFill>
          <a:ln w="1905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914400"/>
            <a:ext cx="4206240" cy="384048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914400"/>
            <a:ext cx="54864" cy="18288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9692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Search Cars Under Budget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389888"/>
            <a:ext cx="3931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Listings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price &lt; 500000 AND status = 'available';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4206240" cy="1828800"/>
          </a:xfrm>
          <a:prstGeom prst="rect">
            <a:avLst/>
          </a:prstGeom>
          <a:solidFill>
            <a:srgbClr val="161B22"/>
          </a:solidFill>
          <a:ln w="1905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971800"/>
            <a:ext cx="4206240" cy="384048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971800"/>
            <a:ext cx="54864" cy="18288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266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All Cars by Seller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447288"/>
            <a:ext cx="3931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Cars WHERE user_id = 5;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971800"/>
            <a:ext cx="4206240" cy="1828800"/>
          </a:xfrm>
          <a:prstGeom prst="rect">
            <a:avLst/>
          </a:prstGeom>
          <a:solidFill>
            <a:srgbClr val="161B22"/>
          </a:solidFill>
          <a:ln w="1905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2971800"/>
            <a:ext cx="4206240" cy="384048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2971800"/>
            <a:ext cx="54864" cy="18288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0266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Recent Transactions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447288"/>
            <a:ext cx="3931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Transactions WHERE date &gt; '2024-01-01';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0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Tip: Index on brand, price, and location for 10x faster search performance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DBMS Concepts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6510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64008" cy="18288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05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Triggers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" y="14173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updates listing status to SOLD after a transaction is recorded in the Transactions table.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" y="2048256"/>
            <a:ext cx="384048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66544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INSERT ON Transactions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status = 'sold' WHERE car_id = NEW.car_id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2062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14400"/>
            <a:ext cx="64008" cy="1828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005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Stored Procedures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73752" y="14173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the average price of similar cars based on brand, model and year to generate price predictions.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73752" y="2048256"/>
            <a:ext cx="384048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066544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GetAvgPrice('Toyota', 'Corolla', 2019)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42062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4A148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26080"/>
            <a:ext cx="64008" cy="182880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0175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Views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8912" y="34290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Pre-defined queries for quick access to available cars joining the Cars and Listings tables.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" y="4059936"/>
            <a:ext cx="384048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078224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AvailableCars AS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brand, model, year, price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Cars JOIN Listings...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09160" y="2926080"/>
            <a:ext cx="42062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D4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926080"/>
            <a:ext cx="64008" cy="1828800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30175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Indexes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73752" y="34290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on brand, price, and location columns dramatically speed up search and filter queries.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73752" y="4059936"/>
            <a:ext cx="384048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4078224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idx_brand ON Cars(brand);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idx_price ON Listings(price);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47548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2651760" cy="713232"/>
          </a:xfrm>
          <a:prstGeom prst="rect">
            <a:avLst/>
          </a:prstGeom>
          <a:solidFill>
            <a:srgbClr val="0F2D5E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6276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97510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2651760" cy="713232"/>
          </a:xfrm>
          <a:prstGeom prst="rect">
            <a:avLst/>
          </a:prstGeom>
          <a:solidFill>
            <a:srgbClr val="0F2D5E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43230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277977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182112"/>
            <a:ext cx="2651760" cy="713232"/>
          </a:xfrm>
          <a:prstGeom prst="rect">
            <a:avLst/>
          </a:prstGeom>
          <a:solidFill>
            <a:srgbClr val="0F2D5E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323697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" y="358444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46120" y="1005840"/>
            <a:ext cx="265176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00584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246120" y="1572768"/>
            <a:ext cx="2651760" cy="713232"/>
          </a:xfrm>
          <a:prstGeom prst="rect">
            <a:avLst/>
          </a:prstGeom>
          <a:solidFill>
            <a:srgbClr val="0F2D5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16276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/ Python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55848" y="197510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logic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2377440"/>
            <a:ext cx="2651760" cy="713232"/>
          </a:xfrm>
          <a:prstGeom prst="rect">
            <a:avLst/>
          </a:prstGeom>
          <a:solidFill>
            <a:srgbClr val="0F2D5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5848" y="243230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55848" y="277977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46120" y="3182112"/>
            <a:ext cx="2651760" cy="713232"/>
          </a:xfrm>
          <a:prstGeom prst="rect">
            <a:avLst/>
          </a:prstGeom>
          <a:solidFill>
            <a:srgbClr val="0F2D5E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5848" y="323697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55848" y="358444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1005840"/>
            <a:ext cx="2651760" cy="4754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100584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126480" y="1572768"/>
            <a:ext cx="2651760" cy="713232"/>
          </a:xfrm>
          <a:prstGeom prst="rect">
            <a:avLst/>
          </a:prstGeom>
          <a:solidFill>
            <a:srgbClr val="0F2D5E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36208" y="16276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36208" y="197510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DB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26480" y="2377440"/>
            <a:ext cx="2651760" cy="713232"/>
          </a:xfrm>
          <a:prstGeom prst="rect">
            <a:avLst/>
          </a:prstGeom>
          <a:solidFill>
            <a:srgbClr val="0F2D5E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6208" y="243230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36208" y="277977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26480" y="3182112"/>
            <a:ext cx="2651760" cy="713232"/>
          </a:xfrm>
          <a:prstGeom prst="rect">
            <a:avLst/>
          </a:prstGeom>
          <a:solidFill>
            <a:srgbClr val="0F2D5E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36208" y="323697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queries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36208" y="358444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4160520"/>
            <a:ext cx="8412480" cy="777240"/>
          </a:xfrm>
          <a:prstGeom prst="rect">
            <a:avLst/>
          </a:prstGeom>
          <a:solidFill>
            <a:srgbClr val="0F2D5E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Architecture:  Browser  →  Web Server (PHP/Node)  →  MySQL / PostgreSQL  →  Response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1254"/>
            <a:ext cx="9144000" cy="1371600"/>
          </a:xfrm>
          <a:prstGeom prst="rect">
            <a:avLst/>
          </a:prstGeom>
          <a:solidFill>
            <a:srgbClr val="0F2D5E"/>
          </a:solidFill>
          <a:ln w="12700">
            <a:solidFill>
              <a:srgbClr val="0F2D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3557" y="-10551"/>
            <a:ext cx="8862646" cy="1291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05840" y="1778508"/>
            <a:ext cx="1371600" cy="1371600"/>
          </a:xfrm>
          <a:prstGeom prst="ellipse">
            <a:avLst/>
          </a:prstGeom>
          <a:solidFill>
            <a:srgbClr val="1565C0"/>
          </a:solidFill>
          <a:ln w="3175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15084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Nitin Sharma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2103120" cy="475488"/>
          </a:xfrm>
          <a:prstGeom prst="rect">
            <a:avLst/>
          </a:prstGeom>
          <a:solidFill>
            <a:srgbClr val="0F2D5E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703320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RA2411030030041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820711"/>
            <a:ext cx="1371600" cy="1371600"/>
          </a:xfrm>
          <a:prstGeom prst="ellipse">
            <a:avLst/>
          </a:prstGeom>
          <a:solidFill>
            <a:srgbClr val="FFB300"/>
          </a:solidFill>
          <a:ln w="31750">
            <a:solidFill>
              <a:srgbClr val="FF6F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85728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577840" y="3154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Kshitiz Gupta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43600" y="3666744"/>
            <a:ext cx="2103120" cy="475488"/>
          </a:xfrm>
          <a:prstGeom prst="rect">
            <a:avLst/>
          </a:prstGeom>
          <a:solidFill>
            <a:srgbClr val="0F2D5E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66227" y="3694176"/>
            <a:ext cx="2103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RA2411030030075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60520" y="1719072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65760" y="4426400"/>
            <a:ext cx="2286000" cy="621792"/>
          </a:xfrm>
          <a:prstGeom prst="rect">
            <a:avLst/>
          </a:prstGeom>
          <a:solidFill>
            <a:srgbClr val="0F2D5E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4531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31520" y="4663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4418662"/>
            <a:ext cx="2286000" cy="621792"/>
          </a:xfrm>
          <a:prstGeom prst="rect">
            <a:avLst/>
          </a:prstGeom>
          <a:solidFill>
            <a:srgbClr val="0F2D5E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44531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566160" y="4663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Institute of Science &amp; Technology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4407408"/>
            <a:ext cx="2286000" cy="621792"/>
          </a:xfrm>
          <a:prstGeom prst="rect">
            <a:avLst/>
          </a:prstGeom>
          <a:solidFill>
            <a:srgbClr val="0F2D5E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5" name="Text 23"/>
          <p:cNvSpPr/>
          <p:nvPr/>
        </p:nvSpPr>
        <p:spPr>
          <a:xfrm>
            <a:off x="6126480" y="444398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836898" y="4663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 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</TotalTime>
  <Words>747</Words>
  <Application>Microsoft Office PowerPoint</Application>
  <PresentationFormat>On-screen Show (16:9)</PresentationFormat>
  <Paragraphs>186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Consolas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Used Car Price Prediction &amp; Marketplace</dc:title>
  <dc:subject>PptxGenJS Presentation</dc:subject>
  <dc:creator>PptxGenJS</dc:creator>
  <cp:lastModifiedBy>Snigdha Srivastava</cp:lastModifiedBy>
  <cp:revision>2</cp:revision>
  <dcterms:created xsi:type="dcterms:W3CDTF">2026-03-13T04:51:53Z</dcterms:created>
  <dcterms:modified xsi:type="dcterms:W3CDTF">2026-03-17T22:26:06Z</dcterms:modified>
</cp:coreProperties>
</file>